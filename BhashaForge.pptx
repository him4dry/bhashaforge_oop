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Montserrat Bold" panose="020B0604020202020204" charset="0"/>
      <p:bold r:id="rId23"/>
    </p:embeddedFont>
    <p:embeddedFont>
      <p:font typeface="Source Sans 3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85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54001"/>
            <a:ext cx="5295602" cy="604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BhashaForge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39874" y="1890117"/>
            <a:ext cx="8398818" cy="350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Console-Based Banglish Mini Compiler &amp; Interpreter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9874" y="2472035"/>
            <a:ext cx="8521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Java OOP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874" y="2876922"/>
            <a:ext cx="8521452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By: Himadry Deb Nigam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9874" y="3339629"/>
            <a:ext cx="8521452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Course: Object Oriented Programming (OOP)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9874" y="3802335"/>
            <a:ext cx="447749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133" y="3853309"/>
            <a:ext cx="710431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64716" y="3802335"/>
            <a:ext cx="472529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976" y="3853309"/>
            <a:ext cx="735211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JDBC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14339" y="3802335"/>
            <a:ext cx="548804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1598" y="3853309"/>
            <a:ext cx="81148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40235" y="3802335"/>
            <a:ext cx="914474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7495" y="3853309"/>
            <a:ext cx="1177156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INTELLIJ IDEA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612204"/>
            <a:ext cx="3254053" cy="328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Introduction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68874" y="1071042"/>
            <a:ext cx="4635252" cy="45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BhashaForge is a console-based mini compiler/interpreter built using Java and Object-Oriented Programming concepts. The system allows users to write code using Banglish keywords, execute custom programs, store user code using JDBC + MySQL, and view previously saved programs.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68874" y="1624012"/>
            <a:ext cx="509245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968874" y="1873374"/>
            <a:ext cx="4635252" cy="599405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4084513" y="1989013"/>
            <a:ext cx="17719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Write Code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084513" y="2205335"/>
            <a:ext cx="486117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 programs using Banglish keywords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68874" y="2559546"/>
            <a:ext cx="4635252" cy="599405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</p:sp>
      <p:sp>
        <p:nvSpPr>
          <p:cNvPr id="10" name="Text 7"/>
          <p:cNvSpPr/>
          <p:nvPr/>
        </p:nvSpPr>
        <p:spPr>
          <a:xfrm>
            <a:off x="4084513" y="2675186"/>
            <a:ext cx="17719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Execute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84513" y="2891507"/>
            <a:ext cx="486117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Execute custom programs in the console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68874" y="3245718"/>
            <a:ext cx="4635252" cy="599405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</p:sp>
      <p:sp>
        <p:nvSpPr>
          <p:cNvPr id="13" name="Text 10"/>
          <p:cNvSpPr/>
          <p:nvPr/>
        </p:nvSpPr>
        <p:spPr>
          <a:xfrm>
            <a:off x="4084513" y="3361358"/>
            <a:ext cx="17719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84513" y="3577679"/>
            <a:ext cx="486117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user code using JDBC + MySQL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68874" y="3931890"/>
            <a:ext cx="4635252" cy="599405"/>
          </a:xfrm>
          <a:prstGeom prst="roundRect">
            <a:avLst>
              <a:gd name="adj" fmla="val 2895"/>
            </a:avLst>
          </a:prstGeom>
          <a:solidFill>
            <a:srgbClr val="303132"/>
          </a:solidFill>
          <a:ln/>
        </p:spPr>
      </p:sp>
      <p:sp>
        <p:nvSpPr>
          <p:cNvPr id="16" name="Text 13"/>
          <p:cNvSpPr/>
          <p:nvPr/>
        </p:nvSpPr>
        <p:spPr>
          <a:xfrm>
            <a:off x="4084513" y="4047530"/>
            <a:ext cx="17719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View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084513" y="4263851"/>
            <a:ext cx="486117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previously saved programs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465" y="434057"/>
            <a:ext cx="270056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Objectives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531465" y="840730"/>
            <a:ext cx="8081070" cy="592187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5753" y="855018"/>
            <a:ext cx="394767" cy="56361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440531" y="1044253"/>
            <a:ext cx="376610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3622" y="953691"/>
            <a:ext cx="1973535" cy="140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Build a Custom Language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03622" y="1131689"/>
            <a:ext cx="7953152" cy="1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custom Banglish programming language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31465" y="1496020"/>
            <a:ext cx="8081070" cy="592187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5753" y="1510308"/>
            <a:ext cx="394767" cy="56361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0" name="Text 8"/>
          <p:cNvSpPr/>
          <p:nvPr/>
        </p:nvSpPr>
        <p:spPr>
          <a:xfrm>
            <a:off x="440531" y="1699543"/>
            <a:ext cx="376610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3622" y="1608981"/>
            <a:ext cx="1578843" cy="140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Compiler Concepts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3622" y="1786979"/>
            <a:ext cx="7953152" cy="1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 compiler/interpreter concepts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31465" y="2151311"/>
            <a:ext cx="8081070" cy="592187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5753" y="2165598"/>
            <a:ext cx="394767" cy="56361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5" name="Text 13"/>
          <p:cNvSpPr/>
          <p:nvPr/>
        </p:nvSpPr>
        <p:spPr>
          <a:xfrm>
            <a:off x="440531" y="2354833"/>
            <a:ext cx="376610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3622" y="2264271"/>
            <a:ext cx="1715170" cy="140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Apply OOP Principles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3622" y="2442270"/>
            <a:ext cx="7953152" cy="1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real-world OOP principles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1465" y="2806601"/>
            <a:ext cx="8081070" cy="592187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753" y="2820888"/>
            <a:ext cx="394767" cy="56361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0" name="Text 18"/>
          <p:cNvSpPr/>
          <p:nvPr/>
        </p:nvSpPr>
        <p:spPr>
          <a:xfrm>
            <a:off x="440531" y="3010123"/>
            <a:ext cx="376610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3622" y="2919561"/>
            <a:ext cx="2057028" cy="140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Lexer → Parser → Interpreter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3622" y="3097560"/>
            <a:ext cx="7953152" cy="1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 the full compiler workflow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31465" y="3461891"/>
            <a:ext cx="8081070" cy="592187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5753" y="3476179"/>
            <a:ext cx="394767" cy="56361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5" name="Text 23"/>
          <p:cNvSpPr/>
          <p:nvPr/>
        </p:nvSpPr>
        <p:spPr>
          <a:xfrm>
            <a:off x="440531" y="3665413"/>
            <a:ext cx="376610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3622" y="3574852"/>
            <a:ext cx="1578843" cy="140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Storage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3622" y="3752850"/>
            <a:ext cx="7953152" cy="1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user programs using database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31465" y="4117181"/>
            <a:ext cx="8081070" cy="592187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5753" y="4131469"/>
            <a:ext cx="394767" cy="56361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30" name="Text 28"/>
          <p:cNvSpPr/>
          <p:nvPr/>
        </p:nvSpPr>
        <p:spPr>
          <a:xfrm>
            <a:off x="440531" y="4320704"/>
            <a:ext cx="376610" cy="185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3622" y="4230142"/>
            <a:ext cx="1633612" cy="140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Console Application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03622" y="4408140"/>
            <a:ext cx="7953152" cy="1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 fully console-based Java application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573" y="411510"/>
            <a:ext cx="262934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Technologies Used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174" y="1175891"/>
            <a:ext cx="2888903" cy="16249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44579" y="838349"/>
            <a:ext cx="3189536" cy="530647"/>
          </a:xfrm>
          <a:prstGeom prst="roundRect">
            <a:avLst>
              <a:gd name="adj" fmla="val 12924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30292" y="838349"/>
            <a:ext cx="57150" cy="530647"/>
          </a:xfrm>
          <a:prstGeom prst="roundRect">
            <a:avLst>
              <a:gd name="adj" fmla="val 25085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597277" y="948184"/>
            <a:ext cx="1851720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Programming Language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597277" y="1143149"/>
            <a:ext cx="3384203" cy="11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444579" y="1428155"/>
            <a:ext cx="3189536" cy="530647"/>
          </a:xfrm>
          <a:prstGeom prst="roundRect">
            <a:avLst>
              <a:gd name="adj" fmla="val 12924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30292" y="1428155"/>
            <a:ext cx="57150" cy="530647"/>
          </a:xfrm>
          <a:prstGeom prst="roundRect">
            <a:avLst>
              <a:gd name="adj" fmla="val 25085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597277" y="1537990"/>
            <a:ext cx="154327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597277" y="1732955"/>
            <a:ext cx="3384203" cy="11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IntelliJ IDEA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444579" y="2017961"/>
            <a:ext cx="3189536" cy="530647"/>
          </a:xfrm>
          <a:prstGeom prst="roundRect">
            <a:avLst>
              <a:gd name="adj" fmla="val 12924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30292" y="2017961"/>
            <a:ext cx="57150" cy="530647"/>
          </a:xfrm>
          <a:prstGeom prst="roundRect">
            <a:avLst>
              <a:gd name="adj" fmla="val 25085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597277" y="2127796"/>
            <a:ext cx="154327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97277" y="2322761"/>
            <a:ext cx="3384203" cy="11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(XAMPP)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444579" y="2607766"/>
            <a:ext cx="3189536" cy="530647"/>
          </a:xfrm>
          <a:prstGeom prst="roundRect">
            <a:avLst>
              <a:gd name="adj" fmla="val 12924"/>
            </a:avLst>
          </a:prstGeom>
          <a:solidFill>
            <a:srgbClr val="111213"/>
          </a:solidFill>
          <a:ln w="14288">
            <a:solidFill>
              <a:srgbClr val="494A4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30292" y="2607766"/>
            <a:ext cx="57150" cy="530647"/>
          </a:xfrm>
          <a:prstGeom prst="roundRect">
            <a:avLst>
              <a:gd name="adj" fmla="val 25085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597277" y="2717602"/>
            <a:ext cx="174270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Connectivity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597277" y="2912566"/>
            <a:ext cx="3384203" cy="11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JDBC (Java Database Connectivity)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4573" y="3293790"/>
            <a:ext cx="154327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Concepts Used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14573" y="3518371"/>
            <a:ext cx="4027810" cy="286717"/>
          </a:xfrm>
          <a:prstGeom prst="roundRect">
            <a:avLst>
              <a:gd name="adj" fmla="val 480014"/>
            </a:avLst>
          </a:prstGeom>
          <a:solidFill>
            <a:srgbClr val="303132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6780" y="3590032"/>
            <a:ext cx="143321" cy="14332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0121" y="3864248"/>
            <a:ext cx="154327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OOP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601542" y="3518371"/>
            <a:ext cx="4027884" cy="286717"/>
          </a:xfrm>
          <a:prstGeom prst="roundRect">
            <a:avLst>
              <a:gd name="adj" fmla="val 480014"/>
            </a:avLst>
          </a:prstGeom>
          <a:solidFill>
            <a:srgbClr val="303132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3824" y="3590032"/>
            <a:ext cx="143321" cy="14332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97090" y="3864248"/>
            <a:ext cx="154327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File Handling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14573" y="4154760"/>
            <a:ext cx="4027810" cy="286717"/>
          </a:xfrm>
          <a:prstGeom prst="roundRect">
            <a:avLst>
              <a:gd name="adj" fmla="val 480014"/>
            </a:avLst>
          </a:prstGeom>
          <a:solidFill>
            <a:srgbClr val="303132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56780" y="4226421"/>
            <a:ext cx="143321" cy="14332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10121" y="4500637"/>
            <a:ext cx="1786682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Management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4601542" y="4154760"/>
            <a:ext cx="4027884" cy="286717"/>
          </a:xfrm>
          <a:prstGeom prst="roundRect">
            <a:avLst>
              <a:gd name="adj" fmla="val 480014"/>
            </a:avLst>
          </a:prstGeom>
          <a:solidFill>
            <a:srgbClr val="303132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3824" y="4226421"/>
            <a:ext cx="143321" cy="14332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97090" y="4500637"/>
            <a:ext cx="179754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Compiler Design Basics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43446"/>
            <a:ext cx="3465835" cy="350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9874" y="1091431"/>
            <a:ext cx="8064252" cy="333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BhashaForge system follows a classic compiler pipeline, processing user input through distinct stages before producing output. Additional modules including a User System, JDBC Database Storage, and an Environment Variable Manager support the core pipeline.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99" y="1535683"/>
            <a:ext cx="6451402" cy="2786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7163" y="3610412"/>
            <a:ext cx="1186522" cy="158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Lexer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885763" y="3818610"/>
            <a:ext cx="957922" cy="251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Tokenization of input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16859" y="3610412"/>
            <a:ext cx="1186522" cy="158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Interpreter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345459" y="3818610"/>
            <a:ext cx="957922" cy="251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Execute semantic actions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430367" y="1787133"/>
            <a:ext cx="1186522" cy="158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Input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658967" y="1995331"/>
            <a:ext cx="957922" cy="251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 code or commands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307113" y="1787133"/>
            <a:ext cx="1186522" cy="158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535713" y="1995331"/>
            <a:ext cx="957922" cy="251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Results or program output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902277" y="1787133"/>
            <a:ext cx="1186522" cy="158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Parser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30877" y="1995331"/>
            <a:ext cx="957922" cy="251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AST structure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39874" y="4433367"/>
            <a:ext cx="8521452" cy="16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stage transforms the input further — from raw text to tokens, to an Abstract Syntax Tree, and finally to executed results displayed in the console.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23875"/>
            <a:ext cx="3262089" cy="350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Features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9874" y="1071860"/>
            <a:ext cx="3982789" cy="1116806"/>
          </a:xfrm>
          <a:prstGeom prst="roundRect">
            <a:avLst>
              <a:gd name="adj" fmla="val 1658"/>
            </a:avLst>
          </a:prstGeom>
          <a:solidFill>
            <a:srgbClr val="303132"/>
          </a:solidFill>
          <a:ln/>
        </p:spPr>
      </p:sp>
      <p:sp>
        <p:nvSpPr>
          <p:cNvPr id="4" name="Shape 2"/>
          <p:cNvSpPr/>
          <p:nvPr/>
        </p:nvSpPr>
        <p:spPr>
          <a:xfrm>
            <a:off x="663253" y="1195239"/>
            <a:ext cx="370210" cy="370210"/>
          </a:xfrm>
          <a:prstGeom prst="roundRect">
            <a:avLst>
              <a:gd name="adj" fmla="val 15435641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051" y="1297037"/>
            <a:ext cx="166539" cy="1665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3253" y="1664122"/>
            <a:ext cx="251348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Banglish Language Support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3253" y="1898675"/>
            <a:ext cx="4193232" cy="16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Banglish programming language support with native keywords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1337" y="1071860"/>
            <a:ext cx="3982789" cy="1116806"/>
          </a:xfrm>
          <a:prstGeom prst="roundRect">
            <a:avLst>
              <a:gd name="adj" fmla="val 1658"/>
            </a:avLst>
          </a:prstGeom>
          <a:solidFill>
            <a:srgbClr val="303132"/>
          </a:solidFill>
          <a:ln/>
        </p:spPr>
      </p:sp>
      <p:sp>
        <p:nvSpPr>
          <p:cNvPr id="9" name="Shape 6"/>
          <p:cNvSpPr/>
          <p:nvPr/>
        </p:nvSpPr>
        <p:spPr>
          <a:xfrm>
            <a:off x="4744715" y="1195239"/>
            <a:ext cx="370210" cy="370210"/>
          </a:xfrm>
          <a:prstGeom prst="roundRect">
            <a:avLst>
              <a:gd name="adj" fmla="val 15435641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6513" y="1297037"/>
            <a:ext cx="166539" cy="1665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44715" y="1664122"/>
            <a:ext cx="210190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Variables &amp; Arithmetic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744715" y="1898675"/>
            <a:ext cx="4193232" cy="16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Variable declaration and arithmetic operations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39874" y="2287339"/>
            <a:ext cx="3982789" cy="1116806"/>
          </a:xfrm>
          <a:prstGeom prst="roundRect">
            <a:avLst>
              <a:gd name="adj" fmla="val 1658"/>
            </a:avLst>
          </a:prstGeom>
          <a:solidFill>
            <a:srgbClr val="303132"/>
          </a:solidFill>
          <a:ln/>
        </p:spPr>
      </p:sp>
      <p:sp>
        <p:nvSpPr>
          <p:cNvPr id="14" name="Shape 10"/>
          <p:cNvSpPr/>
          <p:nvPr/>
        </p:nvSpPr>
        <p:spPr>
          <a:xfrm>
            <a:off x="663253" y="2410718"/>
            <a:ext cx="370210" cy="370210"/>
          </a:xfrm>
          <a:prstGeom prst="roundRect">
            <a:avLst>
              <a:gd name="adj" fmla="val 15435641"/>
            </a:avLst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051" y="2512516"/>
            <a:ext cx="166539" cy="1665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3253" y="2879601"/>
            <a:ext cx="185960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Print &amp; Conditions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63253" y="3114154"/>
            <a:ext cx="4193232" cy="16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Print statements, if conditions, and while loops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1337" y="2287339"/>
            <a:ext cx="3982789" cy="1116806"/>
          </a:xfrm>
          <a:prstGeom prst="roundRect">
            <a:avLst>
              <a:gd name="adj" fmla="val 1658"/>
            </a:avLst>
          </a:prstGeom>
          <a:solidFill>
            <a:srgbClr val="303132"/>
          </a:solidFill>
          <a:ln/>
        </p:spPr>
      </p:sp>
      <p:sp>
        <p:nvSpPr>
          <p:cNvPr id="19" name="Shape 14"/>
          <p:cNvSpPr/>
          <p:nvPr/>
        </p:nvSpPr>
        <p:spPr>
          <a:xfrm>
            <a:off x="4744715" y="2410718"/>
            <a:ext cx="370210" cy="370210"/>
          </a:xfrm>
          <a:prstGeom prst="roundRect">
            <a:avLst>
              <a:gd name="adj" fmla="val 15435641"/>
            </a:avLst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6513" y="2512516"/>
            <a:ext cx="166539" cy="1665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44715" y="2879601"/>
            <a:ext cx="185960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Login System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744715" y="3114154"/>
            <a:ext cx="4193232" cy="16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user login with account management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39874" y="3502819"/>
            <a:ext cx="3982789" cy="1116806"/>
          </a:xfrm>
          <a:prstGeom prst="roundRect">
            <a:avLst>
              <a:gd name="adj" fmla="val 1658"/>
            </a:avLst>
          </a:prstGeom>
          <a:solidFill>
            <a:srgbClr val="303132"/>
          </a:solidFill>
          <a:ln/>
        </p:spPr>
      </p:sp>
      <p:sp>
        <p:nvSpPr>
          <p:cNvPr id="24" name="Shape 18"/>
          <p:cNvSpPr/>
          <p:nvPr/>
        </p:nvSpPr>
        <p:spPr>
          <a:xfrm>
            <a:off x="663253" y="3626197"/>
            <a:ext cx="370210" cy="370210"/>
          </a:xfrm>
          <a:prstGeom prst="roundRect">
            <a:avLst>
              <a:gd name="adj" fmla="val 15435641"/>
            </a:avLst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051" y="3727996"/>
            <a:ext cx="166539" cy="1665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3253" y="4095080"/>
            <a:ext cx="209512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Save &amp; Load Programs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63253" y="4329633"/>
            <a:ext cx="4193232" cy="16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JDBC database integration to save and load user programs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1337" y="3502819"/>
            <a:ext cx="3982789" cy="1116806"/>
          </a:xfrm>
          <a:prstGeom prst="roundRect">
            <a:avLst>
              <a:gd name="adj" fmla="val 1658"/>
            </a:avLst>
          </a:prstGeom>
          <a:solidFill>
            <a:srgbClr val="303132"/>
          </a:solidFill>
          <a:ln/>
        </p:spPr>
      </p:sp>
      <p:sp>
        <p:nvSpPr>
          <p:cNvPr id="29" name="Shape 22"/>
          <p:cNvSpPr/>
          <p:nvPr/>
        </p:nvSpPr>
        <p:spPr>
          <a:xfrm>
            <a:off x="4744715" y="3626197"/>
            <a:ext cx="370210" cy="370210"/>
          </a:xfrm>
          <a:prstGeom prst="roundRect">
            <a:avLst>
              <a:gd name="adj" fmla="val 15435641"/>
            </a:avLst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6513" y="3727996"/>
            <a:ext cx="166539" cy="16653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44715" y="4095080"/>
            <a:ext cx="185960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4744715" y="4329633"/>
            <a:ext cx="4193232" cy="16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Built-in error handling system for robust execution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06251"/>
            <a:ext cx="3787229" cy="394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OOP Concepts Used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39874" y="1250528"/>
            <a:ext cx="3969618" cy="785664"/>
          </a:xfrm>
          <a:prstGeom prst="roundRect">
            <a:avLst>
              <a:gd name="adj" fmla="val 11639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0824" y="1250528"/>
            <a:ext cx="76200" cy="785664"/>
          </a:xfrm>
          <a:prstGeom prst="roundRect">
            <a:avLst>
              <a:gd name="adj" fmla="val 2733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54856" y="1408361"/>
            <a:ext cx="2034927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4856" y="1680493"/>
            <a:ext cx="4054004" cy="1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Private variables and getter methods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34433" y="1250528"/>
            <a:ext cx="3969693" cy="785664"/>
          </a:xfrm>
          <a:prstGeom prst="roundRect">
            <a:avLst>
              <a:gd name="adj" fmla="val 11639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5383" y="1250528"/>
            <a:ext cx="76200" cy="785664"/>
          </a:xfrm>
          <a:prstGeom prst="roundRect">
            <a:avLst>
              <a:gd name="adj" fmla="val 2733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49416" y="1408361"/>
            <a:ext cx="2034927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9416" y="1680493"/>
            <a:ext cx="4054078" cy="1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 Node classes extend abstract Node class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9874" y="2161133"/>
            <a:ext cx="3969618" cy="785664"/>
          </a:xfrm>
          <a:prstGeom prst="roundRect">
            <a:avLst>
              <a:gd name="adj" fmla="val 11639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0824" y="2161133"/>
            <a:ext cx="76200" cy="785664"/>
          </a:xfrm>
          <a:prstGeom prst="roundRect">
            <a:avLst>
              <a:gd name="adj" fmla="val 2733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4856" y="2318965"/>
            <a:ext cx="2034927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856" y="2591098"/>
            <a:ext cx="4054004" cy="1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Different node execution behaviors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34433" y="2161133"/>
            <a:ext cx="3969693" cy="785664"/>
          </a:xfrm>
          <a:prstGeom prst="roundRect">
            <a:avLst>
              <a:gd name="adj" fmla="val 11639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5383" y="2161133"/>
            <a:ext cx="76200" cy="785664"/>
          </a:xfrm>
          <a:prstGeom prst="roundRect">
            <a:avLst>
              <a:gd name="adj" fmla="val 2733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9416" y="2318965"/>
            <a:ext cx="2034927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9416" y="2591098"/>
            <a:ext cx="4054078" cy="1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Abstract Node class and interfaces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9874" y="3071738"/>
            <a:ext cx="3969618" cy="785664"/>
          </a:xfrm>
          <a:prstGeom prst="roundRect">
            <a:avLst>
              <a:gd name="adj" fmla="val 11639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0824" y="3071738"/>
            <a:ext cx="76200" cy="785664"/>
          </a:xfrm>
          <a:prstGeom prst="roundRect">
            <a:avLst>
              <a:gd name="adj" fmla="val 2733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54856" y="3229570"/>
            <a:ext cx="2034927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856" y="3501703"/>
            <a:ext cx="4054004" cy="1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Storage interface implementation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34433" y="3071738"/>
            <a:ext cx="3969693" cy="785664"/>
          </a:xfrm>
          <a:prstGeom prst="roundRect">
            <a:avLst>
              <a:gd name="adj" fmla="val 11639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5383" y="3071738"/>
            <a:ext cx="76200" cy="785664"/>
          </a:xfrm>
          <a:prstGeom prst="roundRect">
            <a:avLst>
              <a:gd name="adj" fmla="val 27331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9416" y="3229570"/>
            <a:ext cx="2034927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Composition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9416" y="3501703"/>
            <a:ext cx="4054078" cy="1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Interpreter uses Environment object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9874" y="3997970"/>
            <a:ext cx="8064252" cy="539279"/>
          </a:xfrm>
          <a:prstGeom prst="roundRect">
            <a:avLst>
              <a:gd name="adj" fmla="val 3862"/>
            </a:avLst>
          </a:prstGeom>
          <a:solidFill>
            <a:srgbClr val="022349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4188098"/>
            <a:ext cx="173534" cy="13878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90972" y="4157588"/>
            <a:ext cx="7931572" cy="1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Method Overloading &amp; Overriding:</a:t>
            </a: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Used extensively in Interpreter and Node classes to handle diverse execution scenarios.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56" y="412700"/>
            <a:ext cx="5822082" cy="382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Design (JDBC + MySQL)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56" y="2098477"/>
            <a:ext cx="1985590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Name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23056" y="2406700"/>
            <a:ext cx="4342061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bhashaforge_db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056" y="2722290"/>
            <a:ext cx="1985590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Purpose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3056" y="3030513"/>
            <a:ext cx="3884861" cy="648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 user accounts</a:t>
            </a:r>
            <a:endParaRPr lang="en-US" sz="10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 user-written programs</a:t>
            </a:r>
            <a:endParaRPr lang="en-US" sz="10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previous codes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846" y="1102519"/>
            <a:ext cx="3496345" cy="349634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846" y="1102519"/>
            <a:ext cx="3496345" cy="3496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3787973" cy="41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Interface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205954"/>
            <a:ext cx="2266652" cy="335771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184" y="1513954"/>
            <a:ext cx="2437135" cy="274171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517" y="1205954"/>
            <a:ext cx="1947714" cy="1388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72344"/>
            <a:ext cx="470326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Input &amp; Output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06" y="1615529"/>
            <a:ext cx="2432372" cy="113645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860" y="1615529"/>
            <a:ext cx="2436837" cy="258201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846" y="1615529"/>
            <a:ext cx="2436837" cy="138521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175846" y="3174281"/>
            <a:ext cx="2894037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21940"/>
            <a:ext cx="4066059" cy="37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Sample Input &amp; Output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494" y="1202085"/>
            <a:ext cx="2612827" cy="157348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170" y="1202085"/>
            <a:ext cx="1897261" cy="15734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9874" y="2985715"/>
            <a:ext cx="8521452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39874" y="3334717"/>
            <a:ext cx="1947267" cy="18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39874" y="3688035"/>
            <a:ext cx="806425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0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dhoro</a:t>
            </a: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keyword declares a variable, </a:t>
            </a:r>
            <a:r>
              <a:rPr lang="en-US" sz="10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dekhao</a:t>
            </a: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prints output, jotokkhon for while and </a:t>
            </a:r>
            <a:r>
              <a:rPr lang="en-US" sz="10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jodi</a:t>
            </a: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handles conditional logic — all in natural Banglish syntax.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25587" y="4172396"/>
            <a:ext cx="28575" cy="463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699567" y="4186684"/>
            <a:ext cx="1947267" cy="18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dhoro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99567" y="4439692"/>
            <a:ext cx="2209056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Declare a variable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76438" y="4172396"/>
            <a:ext cx="28575" cy="463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2750418" y="4186684"/>
            <a:ext cx="1947267" cy="18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dekhao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750418" y="4439692"/>
            <a:ext cx="2209130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Print a value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27364" y="4172396"/>
            <a:ext cx="28575" cy="463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4801344" y="4186684"/>
            <a:ext cx="1947267" cy="18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jodi-nahole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801344" y="4439692"/>
            <a:ext cx="2209056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If-else condition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678216" y="4172396"/>
            <a:ext cx="28575" cy="463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6852196" y="4186684"/>
            <a:ext cx="1947267" cy="18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jotokkhon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852196" y="4439692"/>
            <a:ext cx="2209130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while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1945"/>
            <a:ext cx="50098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 &amp; Future Improvements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9874" y="899815"/>
            <a:ext cx="8064252" cy="275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BhashaForge successfully demonstrates Java OOP concepts, compiler/interpreter basics, JDBC database connectivity, and console-based application development — all within a single cohesive project.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9874" y="1288479"/>
            <a:ext cx="1861914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Improvements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55" y="1558491"/>
            <a:ext cx="161925" cy="16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0811" y="1555179"/>
            <a:ext cx="168428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GUI Version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55" y="2036899"/>
            <a:ext cx="161925" cy="1619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0811" y="2033588"/>
            <a:ext cx="2486323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Better Banglish Syntax Support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55" y="2515307"/>
            <a:ext cx="161925" cy="1619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0811" y="2511996"/>
            <a:ext cx="168428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 Support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55" y="2993715"/>
            <a:ext cx="161925" cy="1619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0811" y="2990404"/>
            <a:ext cx="168428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Editor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55" y="3472123"/>
            <a:ext cx="161925" cy="1619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90811" y="3468812"/>
            <a:ext cx="168428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Error Suggestions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55" y="3950531"/>
            <a:ext cx="161925" cy="1619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90811" y="3947220"/>
            <a:ext cx="2017514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Online Compiler Version</a:t>
            </a:r>
            <a:endParaRPr lang="en-US" sz="950" dirty="0"/>
          </a:p>
        </p:txBody>
      </p:sp>
      <p:sp>
        <p:nvSpPr>
          <p:cNvPr id="17" name="Text 9"/>
          <p:cNvSpPr/>
          <p:nvPr/>
        </p:nvSpPr>
        <p:spPr>
          <a:xfrm>
            <a:off x="701799" y="4444454"/>
            <a:ext cx="8359527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Thank You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BhashaForge bridges the gap between native language and programming logic, making coding more accessible.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539874" y="4359473"/>
            <a:ext cx="14288" cy="342007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On-screen Show (16:9)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Source Sans 3</vt:lpstr>
      <vt:lpstr>Montserrat Bold</vt:lpstr>
      <vt:lpstr>Arial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Tuesday</dc:creator>
  <cp:lastModifiedBy>Nigam</cp:lastModifiedBy>
  <cp:revision>3</cp:revision>
  <dcterms:created xsi:type="dcterms:W3CDTF">2026-05-18T16:15:51Z</dcterms:created>
  <dcterms:modified xsi:type="dcterms:W3CDTF">2026-05-20T06:04:36Z</dcterms:modified>
</cp:coreProperties>
</file>